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3" r:id="rId2"/>
    <p:sldId id="298" r:id="rId3"/>
    <p:sldId id="297" r:id="rId4"/>
    <p:sldId id="29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AEAE"/>
    <a:srgbClr val="FFAD00"/>
    <a:srgbClr val="FFC000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71"/>
    <p:restoredTop sz="93767"/>
  </p:normalViewPr>
  <p:slideViewPr>
    <p:cSldViewPr snapToGrid="0">
      <p:cViewPr varScale="1">
        <p:scale>
          <a:sx n="111" d="100"/>
          <a:sy n="111" d="100"/>
        </p:scale>
        <p:origin x="240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F2E799-DAB0-FD4E-8E83-B751EB32026A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B03F13-C9E8-F342-9681-20AF647DE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56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4B1DC-6A57-1492-3A42-043214FE7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FC4DC6-4768-E567-14BB-28AF8B82E0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6F6624-1456-C240-5FCF-CE5F757E89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D35C9-111A-1FFD-141E-343CD1D861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03F13-C9E8-F342-9681-20AF647DEE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472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03F13-C9E8-F342-9681-20AF647DEE1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422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4C349-1463-3D4B-5EEB-8782F8F48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6A7C43-748D-59F1-D81D-FFF114BFF6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394E06-C05D-4AB4-64B7-98D02518A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DF77E-044A-0399-3596-B4F33C419D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03F13-C9E8-F342-9681-20AF647DEE1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392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0E218-8E0E-141B-408E-3E2A2738B0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52836B-4A50-1527-ADE9-2E6EDD63C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016F5-E2AF-41E6-01F3-4DBDC07AC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34A2-1E9A-784A-9399-E2B428F730A1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52D26-4EE4-556C-C5AE-EC06ACE7A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AE948-7C0A-D4D9-F846-0675CAF37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68CEA-E337-8C49-9229-126D0D66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601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E5C28-004C-5809-0D3D-B8D12571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7348B-68B1-D99D-3919-DF045CB84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4F4BB-A56E-0213-3443-33C02B773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34A2-1E9A-784A-9399-E2B428F730A1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D7FEA-FBCC-6EA7-4D29-0C9527B56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48160-25FB-5BE1-3A46-09BEF93C9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68CEA-E337-8C49-9229-126D0D66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567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F76C5-8C2D-14E7-85E7-F79DE0549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67044-2894-B771-291E-2B2B670DD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C098B-FA93-8505-1300-6A946408C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34A2-1E9A-784A-9399-E2B428F730A1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B7B88-6C8C-9ACB-88F7-530A59D91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FE8A0-1C1C-D343-6BA3-C57EC808F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68CEA-E337-8C49-9229-126D0D66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411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84E9A-8148-2C0F-C893-62155A2E5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84FEF-DCAD-5483-383A-23E61BA0F7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3F0DC7-7E63-B84E-0921-4A0ACEB74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913763-0FA4-85D1-96DD-574A513BC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34A2-1E9A-784A-9399-E2B428F730A1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4AA3F9-12CE-DFE4-4CC1-100D8A7F3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1D77F-9C8B-9736-EE95-410AF267A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68CEA-E337-8C49-9229-126D0D66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320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79487-699B-0F35-C59E-2B38D122F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3707B2-5B68-84F5-1749-4F2CC61CA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669C7-970D-A8B0-E914-68A887B705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015782-57A8-F351-0A34-BBE69F0B3C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269E1A-0759-070B-9204-424F2097E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571B00-E037-C1E8-235B-476935E27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34A2-1E9A-784A-9399-E2B428F730A1}" type="datetimeFigureOut">
              <a:rPr lang="en-US" smtClean="0"/>
              <a:t>7/13/26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B27591-4C7A-126E-E742-3C030B77A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64C7DB-5C1A-0ACB-FB31-C2FEB3A35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68CEA-E337-8C49-9229-126D0D66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13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1881B-539F-F838-7E6D-B4E3C7786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A6A155-3E00-2D5C-67BB-3BEF287E0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34A2-1E9A-784A-9399-E2B428F730A1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FC76BD-A2EF-C94F-C37F-77D65A45E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980F79-8325-F10A-C1F3-447BDE43F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68CEA-E337-8C49-9229-126D0D66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316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FC960B-F930-2A7D-8C8E-2CEF75FC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34A2-1E9A-784A-9399-E2B428F730A1}" type="datetimeFigureOut">
              <a:rPr lang="en-US" smtClean="0"/>
              <a:t>7/13/26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14F9CB-9807-27ED-1A03-D32D6CE16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9546E-6191-7EDC-5F6A-F7A6C3CA9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68CEA-E337-8C49-9229-126D0D66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837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2043A-A68E-59C0-DAAE-CDB947D1F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1E862-84F6-DD63-B594-E805E363F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88881-1866-D990-877A-E3185644B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FC95B7-0267-3BEA-B54D-36937399D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34A2-1E9A-784A-9399-E2B428F730A1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D0C047-1D46-CD07-B158-C5E075706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68CB3D-FB84-8996-256B-07103C50F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68CEA-E337-8C49-9229-126D0D66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56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848BC-0D11-5B78-2C94-1C155E797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60290-45F3-67E2-1932-F4786922FB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D165D3-14E5-61C3-26EF-7D67FC3A23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9DC67C-0E93-3B9C-C3AE-BCF778B84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34A2-1E9A-784A-9399-E2B428F730A1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F702E-0F61-AB0E-2AF6-C0B96BC4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4B5BDC-1CEB-E9FC-4740-37D64018C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68CEA-E337-8C49-9229-126D0D66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695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AD20E-D4CC-76E9-3CEB-D30CEE36E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703886-A020-C075-25F6-1352FA00B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10F90-F853-1B0F-67C9-6025590AC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34A2-1E9A-784A-9399-E2B428F730A1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ADE44-E4CE-77C7-5697-781E6491F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28163-36CF-1B4C-1BD7-AA36C4682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68CEA-E337-8C49-9229-126D0D66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82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FCF64B-0FC1-EFE3-5420-DF3A13E36A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464EB7-4D59-B797-86B9-52ED7B2A6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82947-7F4A-33B8-9A3A-371E815E7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34A2-1E9A-784A-9399-E2B428F730A1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82BA6-B435-3876-E5B5-6F11E3180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92173-3605-638B-FBDA-266131D81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68CEA-E337-8C49-9229-126D0D66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403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500AF3-5D43-57CC-91A5-EA7CDF2DC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4443F-F4D1-962D-1CB2-0E1502242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DEE6D-7363-1F14-DA10-B9ABFB087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3934A2-1E9A-784A-9399-E2B428F730A1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FFA4A-A92D-8159-8830-2386D7CAF8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C9AF5-9B71-BF61-7F57-1143BDB8E1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768CEA-E337-8C49-9229-126D0D66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151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.emf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9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emf"/><Relationship Id="rId7" Type="http://schemas.openxmlformats.org/officeDocument/2006/relationships/image" Target="../media/image12.emf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emf"/><Relationship Id="rId11" Type="http://schemas.openxmlformats.org/officeDocument/2006/relationships/image" Target="../media/image16.png"/><Relationship Id="rId5" Type="http://schemas.openxmlformats.org/officeDocument/2006/relationships/image" Target="../media/image10.emf"/><Relationship Id="rId10" Type="http://schemas.openxmlformats.org/officeDocument/2006/relationships/image" Target="../media/image15.pn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0565B-3624-CB7D-E71A-D34A7FA1E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5792F-1EC3-6C36-E440-DAF499074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536" y="-5997"/>
            <a:ext cx="10515600" cy="1325563"/>
          </a:xfrm>
        </p:spPr>
        <p:txBody>
          <a:bodyPr/>
          <a:lstStyle/>
          <a:p>
            <a:r>
              <a:rPr lang="en-US" dirty="0"/>
              <a:t>Fig 1: decoupled wire schematic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C59840A-64C0-3C58-0C42-4568B095A3E8}"/>
              </a:ext>
            </a:extLst>
          </p:cNvPr>
          <p:cNvSpPr/>
          <p:nvPr/>
        </p:nvSpPr>
        <p:spPr>
          <a:xfrm>
            <a:off x="662620" y="1548271"/>
            <a:ext cx="4856053" cy="330793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ECC49C-0072-2D69-9D22-DD9348816DA4}"/>
              </a:ext>
            </a:extLst>
          </p:cNvPr>
          <p:cNvSpPr txBox="1"/>
          <p:nvPr/>
        </p:nvSpPr>
        <p:spPr>
          <a:xfrm>
            <a:off x="1678193" y="2915323"/>
            <a:ext cx="2590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See adobe illustrator file</a:t>
            </a:r>
          </a:p>
        </p:txBody>
      </p:sp>
    </p:spTree>
    <p:extLst>
      <p:ext uri="{BB962C8B-B14F-4D97-AF65-F5344CB8AC3E}">
        <p14:creationId xmlns:p14="http://schemas.microsoft.com/office/powerpoint/2010/main" val="2376505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27935-0B59-D2AE-F4FA-95A61BA6B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4361D858-1FDA-451F-9A9E-E88D13E44D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82" t="1756" r="2554" b="4007"/>
          <a:stretch>
            <a:fillRect/>
          </a:stretch>
        </p:blipFill>
        <p:spPr>
          <a:xfrm>
            <a:off x="2470254" y="1680885"/>
            <a:ext cx="3765443" cy="28484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1D3994-F1DA-0DA0-9020-A6320B528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810" y="299366"/>
            <a:ext cx="10515600" cy="1325563"/>
          </a:xfrm>
        </p:spPr>
        <p:txBody>
          <a:bodyPr/>
          <a:lstStyle/>
          <a:p>
            <a:r>
              <a:rPr lang="en-US" dirty="0"/>
              <a:t>Fig 2: TBG vary coupling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6A6D64-2948-6A5F-AD08-3C1CE6EB4272}"/>
              </a:ext>
            </a:extLst>
          </p:cNvPr>
          <p:cNvSpPr txBox="1"/>
          <p:nvPr/>
        </p:nvSpPr>
        <p:spPr>
          <a:xfrm>
            <a:off x="4132055" y="1570629"/>
            <a:ext cx="372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2F3A87-42FD-FE1B-AECD-618EBD40F380}"/>
              </a:ext>
            </a:extLst>
          </p:cNvPr>
          <p:cNvSpPr txBox="1"/>
          <p:nvPr/>
        </p:nvSpPr>
        <p:spPr>
          <a:xfrm>
            <a:off x="2436838" y="1579024"/>
            <a:ext cx="372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387019-3763-C6F4-D174-ED37005884E2}"/>
              </a:ext>
            </a:extLst>
          </p:cNvPr>
          <p:cNvSpPr txBox="1"/>
          <p:nvPr/>
        </p:nvSpPr>
        <p:spPr>
          <a:xfrm>
            <a:off x="2443739" y="2936792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41354B-49FC-06C5-33D6-00F22C979103}"/>
              </a:ext>
            </a:extLst>
          </p:cNvPr>
          <p:cNvSpPr txBox="1"/>
          <p:nvPr/>
        </p:nvSpPr>
        <p:spPr>
          <a:xfrm>
            <a:off x="4175180" y="2918419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746C1C6-4ED2-2EAD-BE01-9165FD5A0750}"/>
                  </a:ext>
                </a:extLst>
              </p:cNvPr>
              <p:cNvSpPr txBox="1"/>
              <p:nvPr/>
            </p:nvSpPr>
            <p:spPr>
              <a:xfrm>
                <a:off x="5852907" y="2925517"/>
                <a:ext cx="301365" cy="23243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b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A8E8528-785D-D78D-A30D-35428465B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2907" y="2925517"/>
                <a:ext cx="301365" cy="232436"/>
              </a:xfrm>
              <a:prstGeom prst="rect">
                <a:avLst/>
              </a:prstGeom>
              <a:blipFill>
                <a:blip r:embed="rId5"/>
                <a:stretch>
                  <a:fillRect l="-8000" r="-4000"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534169-7F10-87CB-A0B4-18B75F4A46BC}"/>
                  </a:ext>
                </a:extLst>
              </p:cNvPr>
              <p:cNvSpPr txBox="1"/>
              <p:nvPr/>
            </p:nvSpPr>
            <p:spPr>
              <a:xfrm>
                <a:off x="5847818" y="1619144"/>
                <a:ext cx="301365" cy="23243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b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CE55410-98EE-2D75-96D2-293341FD2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7818" y="1619144"/>
                <a:ext cx="301365" cy="232436"/>
              </a:xfrm>
              <a:prstGeom prst="rect">
                <a:avLst/>
              </a:prstGeom>
              <a:blipFill>
                <a:blip r:embed="rId6"/>
                <a:stretch>
                  <a:fillRect l="-8000" r="-4000"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2D5B7111-C568-52A0-420B-32A866962F64}"/>
              </a:ext>
            </a:extLst>
          </p:cNvPr>
          <p:cNvSpPr/>
          <p:nvPr/>
        </p:nvSpPr>
        <p:spPr>
          <a:xfrm>
            <a:off x="638203" y="1604360"/>
            <a:ext cx="5648510" cy="2990088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3F897DE-3763-7185-D3C2-714B52C0225A}"/>
                  </a:ext>
                </a:extLst>
              </p:cNvPr>
              <p:cNvSpPr txBox="1"/>
              <p:nvPr/>
            </p:nvSpPr>
            <p:spPr>
              <a:xfrm rot="16200000">
                <a:off x="5821190" y="3607534"/>
                <a:ext cx="560538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/ℏ)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821D147-0D58-CFB8-BD13-D54B28C7B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21190" y="3607534"/>
                <a:ext cx="560538" cy="215444"/>
              </a:xfrm>
              <a:prstGeom prst="rect">
                <a:avLst/>
              </a:prstGeom>
              <a:blipFill>
                <a:blip r:embed="rId7"/>
                <a:stretch>
                  <a:fillRect t="-11111" r="-26316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035371A-AEE2-902B-7005-8BFCC7CF4989}"/>
                  </a:ext>
                </a:extLst>
              </p:cNvPr>
              <p:cNvSpPr txBox="1"/>
              <p:nvPr/>
            </p:nvSpPr>
            <p:spPr>
              <a:xfrm rot="16200000">
                <a:off x="5821190" y="2273940"/>
                <a:ext cx="560538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/ℏ)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121369C-4D0A-9BF2-85FC-1C1AB724C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21190" y="2273940"/>
                <a:ext cx="560538" cy="215444"/>
              </a:xfrm>
              <a:prstGeom prst="rect">
                <a:avLst/>
              </a:prstGeom>
              <a:blipFill>
                <a:blip r:embed="rId8"/>
                <a:stretch>
                  <a:fillRect t="-11111" r="-26316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Picture 23">
            <a:extLst>
              <a:ext uri="{FF2B5EF4-FFF2-40B4-BE49-F238E27FC236}">
                <a16:creationId xmlns:a16="http://schemas.microsoft.com/office/drawing/2014/main" id="{A8911162-85D4-C473-1A16-7DE169FD6AD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3482"/>
          <a:stretch>
            <a:fillRect/>
          </a:stretch>
        </p:blipFill>
        <p:spPr>
          <a:xfrm>
            <a:off x="663494" y="1647085"/>
            <a:ext cx="1850908" cy="29210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CAAA13F-FC2D-BE6F-0A3B-41C77852A9E1}"/>
              </a:ext>
            </a:extLst>
          </p:cNvPr>
          <p:cNvSpPr txBox="1"/>
          <p:nvPr/>
        </p:nvSpPr>
        <p:spPr>
          <a:xfrm>
            <a:off x="649409" y="1509610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026734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FF075-618A-8DBC-F255-C79341927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A8D0C6D9-A663-FE32-2C1B-472866182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423" y="1591800"/>
            <a:ext cx="1231900" cy="1371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6149B11-769F-090F-2F55-B3BAB98CF0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2343" y="2961403"/>
            <a:ext cx="1231900" cy="13716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4136749-6C8C-6CFA-A8DC-79D1362BEE6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883"/>
          <a:stretch>
            <a:fillRect/>
          </a:stretch>
        </p:blipFill>
        <p:spPr>
          <a:xfrm>
            <a:off x="720296" y="1596952"/>
            <a:ext cx="2047417" cy="2921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C7FFCD3-775F-5FC7-1674-BFDBF9E617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8922" y="1790199"/>
            <a:ext cx="1193800" cy="1371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EDA181B-FFD0-42CA-0464-659776F66C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8922" y="3144212"/>
            <a:ext cx="1193800" cy="1371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1BC93F-498E-11A6-E152-EE2238455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25" y="0"/>
            <a:ext cx="10515600" cy="1325563"/>
          </a:xfrm>
        </p:spPr>
        <p:txBody>
          <a:bodyPr/>
          <a:lstStyle/>
          <a:p>
            <a:r>
              <a:rPr lang="en-US" dirty="0"/>
              <a:t>Fig 3. MoTe2 simple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E3DB29-2082-04C0-113C-D69A8BFACAE7}"/>
              </a:ext>
            </a:extLst>
          </p:cNvPr>
          <p:cNvSpPr/>
          <p:nvPr/>
        </p:nvSpPr>
        <p:spPr>
          <a:xfrm>
            <a:off x="677138" y="1548271"/>
            <a:ext cx="4856053" cy="299958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974F3B-F473-E0AD-D9C4-6AC67973C86A}"/>
              </a:ext>
            </a:extLst>
          </p:cNvPr>
          <p:cNvSpPr txBox="1"/>
          <p:nvPr/>
        </p:nvSpPr>
        <p:spPr>
          <a:xfrm>
            <a:off x="689745" y="1508978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D48080-3EA4-7E95-A3F9-2D039315539F}"/>
              </a:ext>
            </a:extLst>
          </p:cNvPr>
          <p:cNvSpPr txBox="1"/>
          <p:nvPr/>
        </p:nvSpPr>
        <p:spPr>
          <a:xfrm>
            <a:off x="2686272" y="1533917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93DF7E-778F-173C-1E87-CCFF4681EBDC}"/>
              </a:ext>
            </a:extLst>
          </p:cNvPr>
          <p:cNvSpPr txBox="1"/>
          <p:nvPr/>
        </p:nvSpPr>
        <p:spPr>
          <a:xfrm>
            <a:off x="3077718" y="3236407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72552D-E72E-B897-4709-61D65E278536}"/>
              </a:ext>
            </a:extLst>
          </p:cNvPr>
          <p:cNvSpPr txBox="1"/>
          <p:nvPr/>
        </p:nvSpPr>
        <p:spPr>
          <a:xfrm>
            <a:off x="3698569" y="3775981"/>
            <a:ext cx="3738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A4129E-BA1A-0276-AF27-C370564CDC92}"/>
              </a:ext>
            </a:extLst>
          </p:cNvPr>
          <p:cNvSpPr txBox="1"/>
          <p:nvPr/>
        </p:nvSpPr>
        <p:spPr>
          <a:xfrm>
            <a:off x="3683769" y="3233191"/>
            <a:ext cx="3818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08BA5C-D478-A713-ED7D-8D8622BF4379}"/>
              </a:ext>
            </a:extLst>
          </p:cNvPr>
          <p:cNvSpPr txBox="1"/>
          <p:nvPr/>
        </p:nvSpPr>
        <p:spPr>
          <a:xfrm>
            <a:off x="3068686" y="3783585"/>
            <a:ext cx="3818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6A30C5-257D-22E3-2DEB-228475761487}"/>
              </a:ext>
            </a:extLst>
          </p:cNvPr>
          <p:cNvSpPr txBox="1"/>
          <p:nvPr/>
        </p:nvSpPr>
        <p:spPr>
          <a:xfrm>
            <a:off x="3059927" y="1896935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714D78-220E-4C3B-268D-D0534C8D6AFF}"/>
              </a:ext>
            </a:extLst>
          </p:cNvPr>
          <p:cNvSpPr txBox="1"/>
          <p:nvPr/>
        </p:nvSpPr>
        <p:spPr>
          <a:xfrm>
            <a:off x="3675754" y="2436509"/>
            <a:ext cx="3738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B934FC-69DE-75A3-5B84-28F36C8BD084}"/>
              </a:ext>
            </a:extLst>
          </p:cNvPr>
          <p:cNvSpPr txBox="1"/>
          <p:nvPr/>
        </p:nvSpPr>
        <p:spPr>
          <a:xfrm>
            <a:off x="3671002" y="1893719"/>
            <a:ext cx="3818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06A41B-0649-240A-60D7-02668031E557}"/>
              </a:ext>
            </a:extLst>
          </p:cNvPr>
          <p:cNvSpPr txBox="1"/>
          <p:nvPr/>
        </p:nvSpPr>
        <p:spPr>
          <a:xfrm>
            <a:off x="3055919" y="2444113"/>
            <a:ext cx="3818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TB</a:t>
            </a:r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DCF46FA0-1904-BD5D-D311-75BC4FCF4EA2}"/>
              </a:ext>
            </a:extLst>
          </p:cNvPr>
          <p:cNvSpPr/>
          <p:nvPr/>
        </p:nvSpPr>
        <p:spPr>
          <a:xfrm>
            <a:off x="4007401" y="1891718"/>
            <a:ext cx="235319" cy="1081799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CF011126-EDAD-E4E8-E395-4B47B8512A73}"/>
              </a:ext>
            </a:extLst>
          </p:cNvPr>
          <p:cNvSpPr/>
          <p:nvPr/>
        </p:nvSpPr>
        <p:spPr>
          <a:xfrm>
            <a:off x="4007401" y="3230023"/>
            <a:ext cx="235319" cy="1105601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B7E3A8-F39B-7DD9-88B5-D470DBF38949}"/>
              </a:ext>
            </a:extLst>
          </p:cNvPr>
          <p:cNvSpPr txBox="1"/>
          <p:nvPr/>
        </p:nvSpPr>
        <p:spPr>
          <a:xfrm>
            <a:off x="2686272" y="2905517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26BE6C9-3FBF-88E5-C031-CD2CB075E565}"/>
              </a:ext>
            </a:extLst>
          </p:cNvPr>
          <p:cNvSpPr txBox="1"/>
          <p:nvPr/>
        </p:nvSpPr>
        <p:spPr>
          <a:xfrm>
            <a:off x="4138540" y="1499970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0E6B237-1DD5-A9EB-4355-CD2EB0510C1F}"/>
              </a:ext>
            </a:extLst>
          </p:cNvPr>
          <p:cNvSpPr txBox="1"/>
          <p:nvPr/>
        </p:nvSpPr>
        <p:spPr>
          <a:xfrm>
            <a:off x="4138540" y="292505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015556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7BE43-38E5-3C75-4D23-E14C8C626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0AEE9-4564-DD96-788B-C4533DF8C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66" y="140677"/>
            <a:ext cx="10515600" cy="1325563"/>
          </a:xfrm>
        </p:spPr>
        <p:txBody>
          <a:bodyPr/>
          <a:lstStyle/>
          <a:p>
            <a:r>
              <a:rPr lang="en-US" dirty="0"/>
              <a:t>Fig 4. MoTe2 complex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58B39D1-082D-38DD-F98E-C8D1F0C1AE6A}"/>
              </a:ext>
            </a:extLst>
          </p:cNvPr>
          <p:cNvGrpSpPr/>
          <p:nvPr/>
        </p:nvGrpSpPr>
        <p:grpSpPr>
          <a:xfrm>
            <a:off x="622490" y="1497254"/>
            <a:ext cx="4817135" cy="3040451"/>
            <a:chOff x="622490" y="1497254"/>
            <a:chExt cx="4817135" cy="3040451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75D3FDD-59EB-4905-8B3F-DECBE70BF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8630"/>
            <a:stretch>
              <a:fillRect/>
            </a:stretch>
          </p:blipFill>
          <p:spPr>
            <a:xfrm>
              <a:off x="678785" y="2645405"/>
              <a:ext cx="1148793" cy="1892300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4669E1B4-6A0B-1527-6D34-5ABA398103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2151" r="15968" b="4487"/>
            <a:stretch>
              <a:fillRect/>
            </a:stretch>
          </p:blipFill>
          <p:spPr>
            <a:xfrm>
              <a:off x="1836405" y="2578212"/>
              <a:ext cx="3036446" cy="18923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7591BA3-2B83-1E1A-2E55-8C44EC7D1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83531" t="5642" r="1826" b="15339"/>
            <a:stretch>
              <a:fillRect/>
            </a:stretch>
          </p:blipFill>
          <p:spPr>
            <a:xfrm>
              <a:off x="4847451" y="2795701"/>
              <a:ext cx="544885" cy="1565558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083B873-607C-7177-95C7-AC75A6046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b="8764"/>
            <a:stretch>
              <a:fillRect/>
            </a:stretch>
          </p:blipFill>
          <p:spPr>
            <a:xfrm>
              <a:off x="2857564" y="1848526"/>
              <a:ext cx="2565400" cy="76474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B70E715-6F52-C1E8-7B29-BC8350D8207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2503" t="4668" r="3337" b="6506"/>
            <a:stretch>
              <a:fillRect/>
            </a:stretch>
          </p:blipFill>
          <p:spPr>
            <a:xfrm>
              <a:off x="891396" y="1600101"/>
              <a:ext cx="1985066" cy="1015281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049A809-ACF7-6AF7-D2D7-033E33991DED}"/>
                </a:ext>
              </a:extLst>
            </p:cNvPr>
            <p:cNvSpPr txBox="1"/>
            <p:nvPr/>
          </p:nvSpPr>
          <p:spPr>
            <a:xfrm>
              <a:off x="3252550" y="1542175"/>
              <a:ext cx="407484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00" dirty="0"/>
                <a:t>Mo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2C26AC3-5879-8A4E-8832-3FAFBE87A531}"/>
                </a:ext>
              </a:extLst>
            </p:cNvPr>
            <p:cNvSpPr/>
            <p:nvPr/>
          </p:nvSpPr>
          <p:spPr>
            <a:xfrm>
              <a:off x="644865" y="1548272"/>
              <a:ext cx="4794760" cy="2989433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8DC2C09-6DD2-12C0-DBE7-1DB71C53B844}"/>
                </a:ext>
              </a:extLst>
            </p:cNvPr>
            <p:cNvSpPr txBox="1"/>
            <p:nvPr/>
          </p:nvSpPr>
          <p:spPr>
            <a:xfrm>
              <a:off x="640851" y="149725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BA8E1FAB-70F6-D442-EF89-8B794D104236}"/>
                    </a:ext>
                  </a:extLst>
                </p:cNvPr>
                <p:cNvSpPr txBox="1"/>
                <p:nvPr/>
              </p:nvSpPr>
              <p:spPr>
                <a:xfrm>
                  <a:off x="4807735" y="2584068"/>
                  <a:ext cx="314189" cy="23243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bSup>
                      </m:oMath>
                    </m:oMathPara>
                  </a14:m>
                  <a:endParaRPr lang="en-US" sz="1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BA8E1FAB-70F6-D442-EF89-8B794D1042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7735" y="2584068"/>
                  <a:ext cx="314189" cy="232436"/>
                </a:xfrm>
                <a:prstGeom prst="rect">
                  <a:avLst/>
                </a:prstGeom>
                <a:blipFill>
                  <a:blip r:embed="rId8"/>
                  <a:stretch>
                    <a:fillRect l="-7692" r="-3846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5D9713D-0242-E6E6-AD7C-2C15B64ACEB0}"/>
                </a:ext>
              </a:extLst>
            </p:cNvPr>
            <p:cNvSpPr txBox="1"/>
            <p:nvPr/>
          </p:nvSpPr>
          <p:spPr>
            <a:xfrm>
              <a:off x="2831240" y="1530410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B5E793C-D16D-4B21-FF39-94A1A36772C8}"/>
                </a:ext>
              </a:extLst>
            </p:cNvPr>
            <p:cNvSpPr txBox="1"/>
            <p:nvPr/>
          </p:nvSpPr>
          <p:spPr>
            <a:xfrm>
              <a:off x="1717758" y="2546628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CC9B3E0-4142-6196-F164-4D9B656D2B39}"/>
                </a:ext>
              </a:extLst>
            </p:cNvPr>
            <p:cNvSpPr txBox="1"/>
            <p:nvPr/>
          </p:nvSpPr>
          <p:spPr>
            <a:xfrm>
              <a:off x="1064963" y="2680187"/>
              <a:ext cx="5790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i="1" dirty="0"/>
                <a:t>D</a:t>
              </a:r>
              <a:r>
                <a:rPr lang="en-US" sz="600" i="1" dirty="0"/>
                <a:t> </a:t>
              </a:r>
              <a:r>
                <a:rPr lang="en-US" sz="1100" dirty="0"/>
                <a:t>=</a:t>
              </a:r>
              <a:r>
                <a:rPr lang="en-US" sz="600" dirty="0"/>
                <a:t> </a:t>
              </a:r>
              <a:r>
                <a:rPr lang="en-US" sz="1100" dirty="0"/>
                <a:t>0.1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D88D42B2-388B-7268-ACB3-D44720904B46}"/>
                </a:ext>
              </a:extLst>
            </p:cNvPr>
            <p:cNvSpPr txBox="1"/>
            <p:nvPr/>
          </p:nvSpPr>
          <p:spPr>
            <a:xfrm>
              <a:off x="1234253" y="3192410"/>
              <a:ext cx="4892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i="1" dirty="0"/>
                <a:t>D </a:t>
              </a:r>
              <a:r>
                <a:rPr lang="en-US" sz="1100" dirty="0"/>
                <a:t>= 0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4916A130-BAFD-3836-B146-D49970E5BC0E}"/>
                </a:ext>
              </a:extLst>
            </p:cNvPr>
            <p:cNvSpPr/>
            <p:nvPr/>
          </p:nvSpPr>
          <p:spPr>
            <a:xfrm>
              <a:off x="1262351" y="3762338"/>
              <a:ext cx="105684" cy="1240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8A5A848-0326-8F2D-8857-24CCF16B91E6}"/>
                </a:ext>
              </a:extLst>
            </p:cNvPr>
            <p:cNvSpPr txBox="1"/>
            <p:nvPr/>
          </p:nvSpPr>
          <p:spPr>
            <a:xfrm>
              <a:off x="1174835" y="3689596"/>
              <a:ext cx="6527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i="1" dirty="0"/>
                <a:t>D </a:t>
              </a:r>
              <a:r>
                <a:rPr lang="en-US" sz="1100" dirty="0"/>
                <a:t>= -0.1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EAEDE8C-B569-8C18-C7DD-70B39CBE2A0E}"/>
                </a:ext>
              </a:extLst>
            </p:cNvPr>
            <p:cNvSpPr/>
            <p:nvPr/>
          </p:nvSpPr>
          <p:spPr>
            <a:xfrm>
              <a:off x="5142128" y="3505587"/>
              <a:ext cx="126512" cy="1240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C97940E-598B-9392-74EE-01773BCBF903}"/>
                    </a:ext>
                  </a:extLst>
                </p:cNvPr>
                <p:cNvSpPr txBox="1"/>
                <p:nvPr/>
              </p:nvSpPr>
              <p:spPr>
                <a:xfrm rot="16200000">
                  <a:off x="4972735" y="3491086"/>
                  <a:ext cx="533672" cy="2000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/ℏ)</m:t>
                        </m:r>
                      </m:oMath>
                    </m:oMathPara>
                  </a14:m>
                  <a:endParaRPr lang="en-US" sz="13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C97940E-598B-9392-74EE-01773BCBF9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4972735" y="3491086"/>
                  <a:ext cx="533672" cy="200055"/>
                </a:xfrm>
                <a:prstGeom prst="rect">
                  <a:avLst/>
                </a:prstGeom>
                <a:blipFill>
                  <a:blip r:embed="rId9"/>
                  <a:stretch>
                    <a:fillRect t="-9302" r="-35294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C5E261-E222-C6B5-2EAF-042800342CD5}"/>
                </a:ext>
              </a:extLst>
            </p:cNvPr>
            <p:cNvSpPr/>
            <p:nvPr/>
          </p:nvSpPr>
          <p:spPr>
            <a:xfrm>
              <a:off x="4968794" y="2367192"/>
              <a:ext cx="324181" cy="1371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C6BA525-FA0E-77B2-8CF2-00F1C4B9772E}"/>
                </a:ext>
              </a:extLst>
            </p:cNvPr>
            <p:cNvSpPr txBox="1"/>
            <p:nvPr/>
          </p:nvSpPr>
          <p:spPr>
            <a:xfrm>
              <a:off x="4878264" y="2298173"/>
              <a:ext cx="5068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+D</a:t>
              </a:r>
              <a:r>
                <a:rPr lang="en-US" sz="1200" dirty="0"/>
                <a:t>/2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6FA6601-0F71-C9BB-65CE-D6CDFC805389}"/>
                </a:ext>
              </a:extLst>
            </p:cNvPr>
            <p:cNvSpPr/>
            <p:nvPr/>
          </p:nvSpPr>
          <p:spPr>
            <a:xfrm>
              <a:off x="4971772" y="2026426"/>
              <a:ext cx="324181" cy="1371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D34315E-0061-B753-DD22-5A01756B0AB3}"/>
                </a:ext>
              </a:extLst>
            </p:cNvPr>
            <p:cNvSpPr txBox="1"/>
            <p:nvPr/>
          </p:nvSpPr>
          <p:spPr>
            <a:xfrm>
              <a:off x="4885470" y="1958154"/>
              <a:ext cx="5068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−D</a:t>
              </a:r>
              <a:r>
                <a:rPr lang="en-US" sz="1200" dirty="0"/>
                <a:t>/2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FD46AB9-98E7-E950-3AC4-61806CBE088F}"/>
                </a:ext>
              </a:extLst>
            </p:cNvPr>
            <p:cNvCxnSpPr>
              <a:cxnSpLocks/>
            </p:cNvCxnSpPr>
            <p:nvPr/>
          </p:nvCxnSpPr>
          <p:spPr>
            <a:xfrm>
              <a:off x="3056709" y="2108728"/>
              <a:ext cx="41801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84F30A7-69AE-64DD-2AE0-ECF1F12364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74720" y="2108728"/>
              <a:ext cx="42062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2178FEF0-720A-92CF-0212-58678E817B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17117" y="2435787"/>
              <a:ext cx="42062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806CD4FE-F689-158A-1DE8-449BB1853CE7}"/>
                </a:ext>
              </a:extLst>
            </p:cNvPr>
            <p:cNvCxnSpPr>
              <a:cxnSpLocks/>
            </p:cNvCxnSpPr>
            <p:nvPr/>
          </p:nvCxnSpPr>
          <p:spPr>
            <a:xfrm>
              <a:off x="3477333" y="2435787"/>
              <a:ext cx="41801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88F6023-0187-3FAF-21C1-34F0CDE17A79}"/>
                </a:ext>
              </a:extLst>
            </p:cNvPr>
            <p:cNvSpPr/>
            <p:nvPr/>
          </p:nvSpPr>
          <p:spPr>
            <a:xfrm>
              <a:off x="3088556" y="1958083"/>
              <a:ext cx="296938" cy="1371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895EEA2-91FD-61C5-27F1-473DB779C1B6}"/>
                    </a:ext>
                  </a:extLst>
                </p:cNvPr>
                <p:cNvSpPr txBox="1"/>
                <p:nvPr/>
              </p:nvSpPr>
              <p:spPr>
                <a:xfrm>
                  <a:off x="3000073" y="1891647"/>
                  <a:ext cx="47808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i="1" dirty="0"/>
                    <a:t>−</a:t>
                  </a:r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a14:m>
                  <a:r>
                    <a:rPr lang="en-US" sz="1200" dirty="0"/>
                    <a:t>/2</a:t>
                  </a: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895EEA2-91FD-61C5-27F1-473DB779C1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0073" y="1891647"/>
                  <a:ext cx="478080" cy="276999"/>
                </a:xfrm>
                <a:prstGeom prst="rect">
                  <a:avLst/>
                </a:prstGeom>
                <a:blipFill>
                  <a:blip r:embed="rId10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AB2668A-0550-50A5-BD31-BC20C1C810CA}"/>
                </a:ext>
              </a:extLst>
            </p:cNvPr>
            <p:cNvSpPr/>
            <p:nvPr/>
          </p:nvSpPr>
          <p:spPr>
            <a:xfrm>
              <a:off x="3108666" y="2285567"/>
              <a:ext cx="296938" cy="1371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9A15D91-BDFF-E321-D500-B196B2795C36}"/>
                    </a:ext>
                  </a:extLst>
                </p:cNvPr>
                <p:cNvSpPr txBox="1"/>
                <p:nvPr/>
              </p:nvSpPr>
              <p:spPr>
                <a:xfrm>
                  <a:off x="3018226" y="2220984"/>
                  <a:ext cx="47808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i="1" dirty="0"/>
                    <a:t>+</a:t>
                  </a:r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a14:m>
                  <a:r>
                    <a:rPr lang="en-US" sz="1200" dirty="0"/>
                    <a:t>/2</a:t>
                  </a: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9A15D91-BDFF-E321-D500-B196B2795C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8226" y="2220984"/>
                  <a:ext cx="478080" cy="276999"/>
                </a:xfrm>
                <a:prstGeom prst="rect">
                  <a:avLst/>
                </a:prstGeom>
                <a:blipFill>
                  <a:blip r:embed="rId11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E11475C-3FEB-71C3-343B-E960537B9669}"/>
                </a:ext>
              </a:extLst>
            </p:cNvPr>
            <p:cNvCxnSpPr>
              <a:cxnSpLocks/>
            </p:cNvCxnSpPr>
            <p:nvPr/>
          </p:nvCxnSpPr>
          <p:spPr>
            <a:xfrm>
              <a:off x="1893851" y="2116413"/>
              <a:ext cx="41801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A5B81E20-B006-E33A-FAA8-6E7F5C4A8B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96071" y="2041464"/>
              <a:ext cx="398976" cy="7415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5B15A0B-C167-610E-88AD-602BF928F7B5}"/>
                </a:ext>
              </a:extLst>
            </p:cNvPr>
            <p:cNvSpPr/>
            <p:nvPr/>
          </p:nvSpPr>
          <p:spPr>
            <a:xfrm>
              <a:off x="2331109" y="1974146"/>
              <a:ext cx="128373" cy="15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0D729829-022D-B450-9BD6-B3BFA797AC22}"/>
                    </a:ext>
                  </a:extLst>
                </p:cNvPr>
                <p:cNvSpPr txBox="1"/>
                <p:nvPr/>
              </p:nvSpPr>
              <p:spPr>
                <a:xfrm>
                  <a:off x="2240614" y="1903372"/>
                  <a:ext cx="317779" cy="29238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US" sz="1300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0D729829-022D-B450-9BD6-B3BFA797AC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0614" y="1903372"/>
                  <a:ext cx="317779" cy="292388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8194C898-045B-185C-8485-9D8AA9F0D84E}"/>
                </a:ext>
              </a:extLst>
            </p:cNvPr>
            <p:cNvSpPr/>
            <p:nvPr/>
          </p:nvSpPr>
          <p:spPr>
            <a:xfrm>
              <a:off x="3212862" y="1715100"/>
              <a:ext cx="79845" cy="79845"/>
            </a:xfrm>
            <a:prstGeom prst="ellipse">
              <a:avLst/>
            </a:prstGeom>
            <a:solidFill>
              <a:srgbClr val="FFAD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E0663F4-9950-F09E-90A1-DB66CF8437D5}"/>
                </a:ext>
              </a:extLst>
            </p:cNvPr>
            <p:cNvSpPr/>
            <p:nvPr/>
          </p:nvSpPr>
          <p:spPr>
            <a:xfrm>
              <a:off x="4300196" y="1714286"/>
              <a:ext cx="79845" cy="79845"/>
            </a:xfrm>
            <a:prstGeom prst="ellipse">
              <a:avLst/>
            </a:prstGeom>
            <a:solidFill>
              <a:srgbClr val="FFAD0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A21D2BA-8A47-5E7E-0816-16920ECD1AEC}"/>
                </a:ext>
              </a:extLst>
            </p:cNvPr>
            <p:cNvSpPr/>
            <p:nvPr/>
          </p:nvSpPr>
          <p:spPr>
            <a:xfrm>
              <a:off x="3761665" y="1726181"/>
              <a:ext cx="59988" cy="599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CC756ACE-C69D-3CB3-20EA-D96F40560E21}"/>
                </a:ext>
              </a:extLst>
            </p:cNvPr>
            <p:cNvSpPr/>
            <p:nvPr/>
          </p:nvSpPr>
          <p:spPr>
            <a:xfrm>
              <a:off x="4876755" y="1726181"/>
              <a:ext cx="59988" cy="59988"/>
            </a:xfrm>
            <a:prstGeom prst="ellipse">
              <a:avLst/>
            </a:prstGeom>
            <a:solidFill>
              <a:srgbClr val="AEAEA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A3DF3B5-4D7B-38AA-FB0D-F24B8F31C87D}"/>
                </a:ext>
              </a:extLst>
            </p:cNvPr>
            <p:cNvSpPr txBox="1"/>
            <p:nvPr/>
          </p:nvSpPr>
          <p:spPr>
            <a:xfrm>
              <a:off x="3251682" y="1689762"/>
              <a:ext cx="422680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00" dirty="0"/>
                <a:t>top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2B58F7A-95ED-B2C1-76E2-DCF9FC53B7C1}"/>
                </a:ext>
              </a:extLst>
            </p:cNvPr>
            <p:cNvSpPr txBox="1"/>
            <p:nvPr/>
          </p:nvSpPr>
          <p:spPr>
            <a:xfrm>
              <a:off x="3800619" y="1537906"/>
              <a:ext cx="339645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00" dirty="0"/>
                <a:t>Te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080D2D7-0DB5-5240-5A75-26814221D89E}"/>
                </a:ext>
              </a:extLst>
            </p:cNvPr>
            <p:cNvSpPr txBox="1"/>
            <p:nvPr/>
          </p:nvSpPr>
          <p:spPr>
            <a:xfrm>
              <a:off x="3771407" y="1685493"/>
              <a:ext cx="422680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00" dirty="0"/>
                <a:t>top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83A2CAC-B06F-379F-48EC-B0B04FA5DB3B}"/>
                </a:ext>
              </a:extLst>
            </p:cNvPr>
            <p:cNvSpPr txBox="1"/>
            <p:nvPr/>
          </p:nvSpPr>
          <p:spPr>
            <a:xfrm>
              <a:off x="4355775" y="1539299"/>
              <a:ext cx="407484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00" dirty="0"/>
                <a:t>Mo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CC0C452-D352-18E6-03E7-2D6030FDC291}"/>
                </a:ext>
              </a:extLst>
            </p:cNvPr>
            <p:cNvSpPr txBox="1"/>
            <p:nvPr/>
          </p:nvSpPr>
          <p:spPr>
            <a:xfrm>
              <a:off x="4341597" y="1686886"/>
              <a:ext cx="471604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00" dirty="0"/>
                <a:t>bot.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B5A79B6-093F-09D8-8A37-311F146A30F9}"/>
                </a:ext>
              </a:extLst>
            </p:cNvPr>
            <p:cNvSpPr txBox="1"/>
            <p:nvPr/>
          </p:nvSpPr>
          <p:spPr>
            <a:xfrm>
              <a:off x="4926187" y="1537906"/>
              <a:ext cx="339645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00" dirty="0"/>
                <a:t>Te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72C1DFD-AE3F-7E5D-4038-4B5B09D27598}"/>
                </a:ext>
              </a:extLst>
            </p:cNvPr>
            <p:cNvSpPr txBox="1"/>
            <p:nvPr/>
          </p:nvSpPr>
          <p:spPr>
            <a:xfrm>
              <a:off x="4889241" y="1685493"/>
              <a:ext cx="471604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00" dirty="0"/>
                <a:t>bot.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1CD1CAC-D8A4-52BE-D55C-EA1896FE0192}"/>
                </a:ext>
              </a:extLst>
            </p:cNvPr>
            <p:cNvSpPr txBox="1"/>
            <p:nvPr/>
          </p:nvSpPr>
          <p:spPr>
            <a:xfrm>
              <a:off x="622490" y="2465598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0122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5305</TotalTime>
  <Words>104</Words>
  <Application>Microsoft Macintosh PowerPoint</Application>
  <PresentationFormat>Widescreen</PresentationFormat>
  <Paragraphs>52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Fig 1: decoupled wire schematic</vt:lpstr>
      <vt:lpstr>Fig 2: TBG vary coupling</vt:lpstr>
      <vt:lpstr>Fig 3. MoTe2 simple</vt:lpstr>
      <vt:lpstr>Fig 4. MoTe2 complex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Talkington, Spenser</dc:creator>
  <cp:lastModifiedBy>Talkington, Spenser</cp:lastModifiedBy>
  <cp:revision>79</cp:revision>
  <cp:lastPrinted>2026-07-09T14:33:52Z</cp:lastPrinted>
  <dcterms:created xsi:type="dcterms:W3CDTF">2026-05-07T03:35:49Z</dcterms:created>
  <dcterms:modified xsi:type="dcterms:W3CDTF">2026-07-13T22:08:14Z</dcterms:modified>
</cp:coreProperties>
</file>